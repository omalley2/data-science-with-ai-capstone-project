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Bank Health Segmentation and ROA Forecasting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Intro to Data Science Capstone</a:t>
            </a:r>
          </a:p>
          <a:p>
            <a:r>
              <a:t>FDIC + FRED | February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Questions &amp;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Can active U.S. banks be segmented into meaningful operating profiles?</a:t>
            </a:r>
          </a:p>
          <a:p>
            <a:pPr>
              <a:defRPr sz="2000"/>
            </a:pPr>
            <a:r>
              <a:t>How accurately can next-period ROA be forecast from bank + macro features?</a:t>
            </a:r>
          </a:p>
          <a:p>
            <a:pPr>
              <a:defRPr sz="2000"/>
            </a:pPr>
            <a:r>
              <a:t>Unit: active banks; alignment: month-level FDIC/FRED join; target: next-period ROA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Sources and APIs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FDIC BankFind API for institution metadata and financial statement metrics</a:t>
            </a:r>
          </a:p>
          <a:p>
            <a:pPr lvl="1">
              <a:defRPr sz="1600"/>
            </a:pPr>
            <a:r>
              <a:t>Endpoints used: /api/institutions and /api/financials</a:t>
            </a:r>
          </a:p>
          <a:p>
            <a:pPr>
              <a:defRPr sz="2000"/>
            </a:pPr>
            <a:r>
              <a:t>FRED API (via fredapi) for macroeconomic time series</a:t>
            </a:r>
          </a:p>
          <a:p>
            <a:pPr lvl="1">
              <a:defRPr sz="1600"/>
            </a:pPr>
            <a:r>
              <a:t>Core series families: rates, unemployment, GDP, inflation, sentiment, delinquencies</a:t>
            </a:r>
          </a:p>
          <a:p>
            <a:pPr>
              <a:defRPr sz="2000"/>
            </a:pPr>
            <a:r>
              <a:t>Reproducible artifacts exported to CSV from PostgreSQL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Data audit: missingness, duplicates, schema normalization, date alignment</a:t>
            </a:r>
          </a:p>
          <a:p>
            <a:pPr>
              <a:defRPr sz="2000"/>
            </a:pPr>
            <a:r>
              <a:t>Feature engineering: lags, changes, and next-period target construction</a:t>
            </a:r>
          </a:p>
          <a:p>
            <a:pPr>
              <a:defRPr sz="2000"/>
            </a:pPr>
            <a:r>
              <a:t>Baseline and model comparison workflow with holdout evaluation</a:t>
            </a:r>
          </a:p>
          <a:p>
            <a:pPr lvl="1">
              <a:defRPr sz="1600"/>
            </a:pPr>
            <a:r>
              <a:t>Models: Linear Regression, Random Forest (untuned/tuned), XGBoost, Prophet</a:t>
            </a:r>
          </a:p>
          <a:p>
            <a:pPr>
              <a:defRPr sz="2000"/>
            </a:pPr>
            <a:r>
              <a:t>Clustering workflow: StandardScaler + KMeans + silhouette + PCA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Forecasting Results (Holdout)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09728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579120">
                <a:tc>
                  <a:txBody>
                    <a:bodyPr/>
                    <a:lstStyle/>
                    <a:p>
                      <a: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Notes</a:t>
                      </a:r>
                    </a:p>
                  </a:txBody>
                  <a:tcPr/>
                </a:tc>
              </a:tr>
              <a:tr h="579120">
                <a:tc>
                  <a:txBody>
                    <a:bodyPr/>
                    <a:lstStyle/>
                    <a:p>
                      <a:r>
                        <a:t>Winsorized Linear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0.3531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0.2429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Best holdout generalization</a:t>
                      </a:r>
                    </a:p>
                  </a:txBody>
                  <a:tcPr/>
                </a:tc>
              </a:tr>
              <a:tr h="579120">
                <a:tc>
                  <a:txBody>
                    <a:bodyPr/>
                    <a:lstStyle/>
                    <a:p>
                      <a:r>
                        <a:t>Random Forest (untuned)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0.3604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Slightly worse than baseline</a:t>
                      </a:r>
                    </a:p>
                  </a:txBody>
                  <a:tcPr/>
                </a:tc>
              </a:tr>
              <a:tr h="579120">
                <a:tc>
                  <a:txBody>
                    <a:bodyPr/>
                    <a:lstStyle/>
                    <a:p>
                      <a:r>
                        <a:t>Random Forest (tuned)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0.3685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Did not improve holdout</a:t>
                      </a:r>
                    </a:p>
                  </a:txBody>
                  <a:tcPr/>
                </a:tc>
              </a:tr>
              <a:tr h="579120">
                <a:tc>
                  <a:txBody>
                    <a:bodyPr/>
                    <a:lstStyle/>
                    <a:p>
                      <a:r>
                        <a:t>XGBoost (winsorized)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0.4195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Large train-test gap</a:t>
                      </a:r>
                    </a:p>
                  </a:txBody>
                  <a:tcPr/>
                </a:tc>
              </a:tr>
              <a:tr h="579120">
                <a:tc>
                  <a:txBody>
                    <a:bodyPr/>
                    <a:lstStyle/>
                    <a:p>
                      <a:r>
                        <a:t>Prophet + regressors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0.5409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Largest overfitting signal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4937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Conclusion: simpler robust linear approach outperformed more complex models on holdout.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Clustering Findings (k = 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Cluster 0: Bank of America, Citibank, JPMorgan Chase, Wells Fargo</a:t>
            </a:r>
          </a:p>
          <a:p>
            <a:pPr>
              <a:defRPr sz="2000"/>
            </a:pPr>
            <a:r>
              <a:t>Cluster 1: Capital One, TD Bank</a:t>
            </a:r>
          </a:p>
          <a:p>
            <a:pPr>
              <a:defRPr sz="2000"/>
            </a:pPr>
            <a:r>
              <a:t>Cluster 2: Goldman Sachs Bank, Huntington National Bank, U.S. Bank</a:t>
            </a:r>
          </a:p>
          <a:p>
            <a:pPr>
              <a:defRPr sz="2000"/>
            </a:pPr>
            <a:r>
              <a:t>Use case: peer benchmarking and profile comparison, not standalone risk labels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 and Risk Controls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Month-level joins can smooth short-term effects</a:t>
            </a:r>
          </a:p>
          <a:p>
            <a:pPr>
              <a:defRPr sz="2000"/>
            </a:pPr>
            <a:r>
              <a:t>Unmodeled institution-specific events can affect ROA</a:t>
            </a:r>
          </a:p>
          <a:p>
            <a:pPr>
              <a:defRPr sz="2000"/>
            </a:pPr>
            <a:r>
              <a:t>Prophet analysis used aggregated series and loses bank-level variation</a:t>
            </a:r>
          </a:p>
          <a:p>
            <a:pPr>
              <a:defRPr sz="2000"/>
            </a:pPr>
            <a:r>
              <a:t>Leakage controls: train-only winsorization and time-aware evaluation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Reproducibility for Instructors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Artifacts included in repo: notebook, capstone README, and 3 export CSVs</a:t>
            </a:r>
          </a:p>
          <a:p>
            <a:pPr>
              <a:defRPr sz="2000"/>
            </a:pPr>
            <a:r>
              <a:t>CSV-only path: load latest capstone_joined_active_*.csv and run modeling sections</a:t>
            </a:r>
          </a:p>
          <a:p>
            <a:pPr>
              <a:defRPr sz="2000"/>
            </a:pPr>
            <a:r>
              <a:t>DB path: seed PostgreSQL and run notebook top-to-bottom</a:t>
            </a:r>
          </a:p>
          <a:p>
            <a:pPr>
              <a:defRPr sz="2000"/>
            </a:pPr>
            <a:r>
              <a:t>Export regeneration command: python3 scripts/export_postgres_csv.py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Use winsorized linear regression as baseline production candidate</a:t>
            </a:r>
          </a:p>
          <a:p>
            <a:pPr>
              <a:defRPr sz="2000"/>
            </a:pPr>
            <a:r>
              <a:t>Monitor model drift and retrain as macro regime changes</a:t>
            </a:r>
          </a:p>
          <a:p>
            <a:pPr>
              <a:defRPr sz="2000"/>
            </a:pPr>
            <a:r>
              <a:t>Use clusters for strategy segmentation and peer context</a:t>
            </a:r>
          </a:p>
          <a:p>
            <a:pPr>
              <a:defRPr sz="2000"/>
            </a:pPr>
            <a:r>
              <a:t>Next iteration: add richer bank-specific features and stricter time-series validation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